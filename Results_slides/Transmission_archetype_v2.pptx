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8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0" autoAdjust="0"/>
    <p:restoredTop sz="94610"/>
  </p:normalViewPr>
  <p:slideViewPr>
    <p:cSldViewPr snapToGrid="0" snapToObjects="1">
      <p:cViewPr>
        <p:scale>
          <a:sx n="86" d="100"/>
          <a:sy n="86" d="100"/>
        </p:scale>
        <p:origin x="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NG　HYO　LIM" userId="803037b5-35c6-4444-899a-9efafa1e9058" providerId="ADAL" clId="{C74645B2-B756-4BD0-8063-B3421C222799}"/>
    <pc:docChg chg="custSel modSld">
      <pc:chgData name="KANG　HYO　LIM" userId="803037b5-35c6-4444-899a-9efafa1e9058" providerId="ADAL" clId="{C74645B2-B756-4BD0-8063-B3421C222799}" dt="2026-07-24T08:39:59.008" v="17" actId="14100"/>
      <pc:docMkLst>
        <pc:docMk/>
      </pc:docMkLst>
      <pc:sldChg chg="modSp mod">
        <pc:chgData name="KANG　HYO　LIM" userId="803037b5-35c6-4444-899a-9efafa1e9058" providerId="ADAL" clId="{C74645B2-B756-4BD0-8063-B3421C222799}" dt="2026-07-24T08:39:59.008" v="17" actId="14100"/>
        <pc:sldMkLst>
          <pc:docMk/>
          <pc:sldMk cId="0" sldId="263"/>
        </pc:sldMkLst>
        <pc:picChg chg="mod">
          <ac:chgData name="KANG　HYO　LIM" userId="803037b5-35c6-4444-899a-9efafa1e9058" providerId="ADAL" clId="{C74645B2-B756-4BD0-8063-B3421C222799}" dt="2026-07-24T08:39:52.608" v="14" actId="14100"/>
          <ac:picMkLst>
            <pc:docMk/>
            <pc:sldMk cId="0" sldId="263"/>
            <ac:picMk id="8" creationId="{00000000-0000-0000-0000-000000000000}"/>
          </ac:picMkLst>
        </pc:picChg>
        <pc:picChg chg="mod">
          <ac:chgData name="KANG　HYO　LIM" userId="803037b5-35c6-4444-899a-9efafa1e9058" providerId="ADAL" clId="{C74645B2-B756-4BD0-8063-B3421C222799}" dt="2026-07-24T08:39:54.797" v="15" actId="14100"/>
          <ac:picMkLst>
            <pc:docMk/>
            <pc:sldMk cId="0" sldId="263"/>
            <ac:picMk id="9" creationId="{00000000-0000-0000-0000-000000000000}"/>
          </ac:picMkLst>
        </pc:picChg>
        <pc:picChg chg="mod">
          <ac:chgData name="KANG　HYO　LIM" userId="803037b5-35c6-4444-899a-9efafa1e9058" providerId="ADAL" clId="{C74645B2-B756-4BD0-8063-B3421C222799}" dt="2026-07-24T08:39:45.835" v="12" actId="14100"/>
          <ac:picMkLst>
            <pc:docMk/>
            <pc:sldMk cId="0" sldId="263"/>
            <ac:picMk id="10" creationId="{00000000-0000-0000-0000-000000000000}"/>
          </ac:picMkLst>
        </pc:picChg>
        <pc:picChg chg="mod">
          <ac:chgData name="KANG　HYO　LIM" userId="803037b5-35c6-4444-899a-9efafa1e9058" providerId="ADAL" clId="{C74645B2-B756-4BD0-8063-B3421C222799}" dt="2026-07-24T08:39:59.008" v="17" actId="14100"/>
          <ac:picMkLst>
            <pc:docMk/>
            <pc:sldMk cId="0" sldId="263"/>
            <ac:picMk id="11" creationId="{00000000-0000-0000-0000-000000000000}"/>
          </ac:picMkLst>
        </pc:picChg>
      </pc:sldChg>
      <pc:sldChg chg="delSp modSp mod">
        <pc:chgData name="KANG　HYO　LIM" userId="803037b5-35c6-4444-899a-9efafa1e9058" providerId="ADAL" clId="{C74645B2-B756-4BD0-8063-B3421C222799}" dt="2026-07-24T08:35:06.273" v="11" actId="478"/>
        <pc:sldMkLst>
          <pc:docMk/>
          <pc:sldMk cId="0" sldId="264"/>
        </pc:sldMkLst>
        <pc:spChg chg="mod">
          <ac:chgData name="KANG　HYO　LIM" userId="803037b5-35c6-4444-899a-9efafa1e9058" providerId="ADAL" clId="{C74645B2-B756-4BD0-8063-B3421C222799}" dt="2026-07-24T08:34:20.996" v="6" actId="20577"/>
          <ac:spMkLst>
            <pc:docMk/>
            <pc:sldMk cId="0" sldId="264"/>
            <ac:spMk id="10" creationId="{00000000-0000-0000-0000-000000000000}"/>
          </ac:spMkLst>
        </pc:spChg>
        <pc:picChg chg="mod">
          <ac:chgData name="KANG　HYO　LIM" userId="803037b5-35c6-4444-899a-9efafa1e9058" providerId="ADAL" clId="{C74645B2-B756-4BD0-8063-B3421C222799}" dt="2026-07-24T08:34:04.136" v="0" actId="14100"/>
          <ac:picMkLst>
            <pc:docMk/>
            <pc:sldMk cId="0" sldId="264"/>
            <ac:picMk id="7" creationId="{00000000-0000-0000-0000-000000000000}"/>
          </ac:picMkLst>
        </pc:picChg>
        <pc:picChg chg="mod">
          <ac:chgData name="KANG　HYO　LIM" userId="803037b5-35c6-4444-899a-9efafa1e9058" providerId="ADAL" clId="{C74645B2-B756-4BD0-8063-B3421C222799}" dt="2026-07-24T08:34:55.688" v="7" actId="14100"/>
          <ac:picMkLst>
            <pc:docMk/>
            <pc:sldMk cId="0" sldId="264"/>
            <ac:picMk id="8" creationId="{00000000-0000-0000-0000-000000000000}"/>
          </ac:picMkLst>
        </pc:picChg>
        <pc:picChg chg="del mod">
          <ac:chgData name="KANG　HYO　LIM" userId="803037b5-35c6-4444-899a-9efafa1e9058" providerId="ADAL" clId="{C74645B2-B756-4BD0-8063-B3421C222799}" dt="2026-07-24T08:35:06.273" v="11" actId="478"/>
          <ac:picMkLst>
            <pc:docMk/>
            <pc:sldMk cId="0" sldId="264"/>
            <ac:picMk id="9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9508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AE9B8-79BC-CD0B-39E2-03644BE0A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BEDE77-688F-14A0-5A8A-BD615BEE23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E36EEC-60F3-7395-FF34-19C26AB94B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2A14F7-821A-6A48-E4E9-34C3D564FB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6913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0887" y="2274849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0000"/>
                </a:solidFill>
              </a:rPr>
              <a:t>Transmission archetype and </a:t>
            </a:r>
          </a:p>
          <a:p>
            <a:pPr marL="0" indent="0" algn="ctr">
              <a:buNone/>
            </a:pPr>
            <a:r>
              <a:rPr lang="en-US" sz="3000" b="1" dirty="0">
                <a:solidFill>
                  <a:srgbClr val="000000"/>
                </a:solidFill>
              </a:rPr>
              <a:t>comorbidity-stratified burden model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Analysis step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13232" y="1399032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13232" y="149047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25880" y="1371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</a:rPr>
              <a:t>Transmission history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480560" y="1380744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Classify 103 countries into A–D archetypes based on sustained circulation, endemic equilibrium, episodic recurrence, or conditional potential.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05256" y="1801368"/>
            <a:ext cx="0" cy="521208"/>
          </a:xfrm>
          <a:prstGeom prst="line">
            <a:avLst/>
          </a:prstGeom>
          <a:noFill/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713232" y="2459736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713232" y="255117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25880" y="24323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</a:rPr>
              <a:t>Archetype-specific infection model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80560" y="2441448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Replace lifelong continuous exposure with effective historical exposure duration and infection probability.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5256" y="2862072"/>
            <a:ext cx="0" cy="521208"/>
          </a:xfrm>
          <a:prstGeom prst="line">
            <a:avLst/>
          </a:prstGeom>
          <a:noFill/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713232" y="3520440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713232" y="361188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25880" y="34930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</a:rPr>
              <a:t>Comorbidity structure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80560" y="3502152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Convert 7 underlying-condition prevalences into mutually exclusive 0, 1, and 2+ comorbidity groups.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56" y="3922776"/>
            <a:ext cx="0" cy="521208"/>
          </a:xfrm>
          <a:prstGeom prst="line">
            <a:avLst/>
          </a:prstGeom>
          <a:noFill/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713232" y="4581144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713232" y="467258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325880" y="45537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</a:rPr>
              <a:t>Clinical risk and burden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480560" y="4562856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Apply comorbidity-specific hospitalisation and death risks, then compute hospitalisations, deaths and DALYs.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Motivation: move beyond a single long-term catalytic model?</a:t>
            </a:r>
            <a:endParaRPr lang="en-US" sz="2500" dirty="0"/>
          </a:p>
        </p:txBody>
      </p:sp>
      <p:pic>
        <p:nvPicPr>
          <p:cNvPr id="5" name="Image 0" descr="/mnt/data/pptx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392" y="859536"/>
            <a:ext cx="5256004" cy="45354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97880" y="1458468"/>
            <a:ext cx="544068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long-term average FOI can make all settings look as if exposure accumulated continuously throughout life.</a:t>
            </a:r>
            <a:endParaRPr lang="en-US" sz="132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problematic where chikungunya was introduced recently or occurs as episodic outbreaks.</a:t>
            </a:r>
            <a:endParaRPr lang="en-US" sz="132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catalytic model can therefore understate incidence and older-age burden in finite-history settings.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 are classified into 4 archetypes</a:t>
            </a:r>
            <a:endParaRPr lang="en-US" sz="2500" dirty="0"/>
          </a:p>
        </p:txBody>
      </p:sp>
      <p:pic>
        <p:nvPicPr>
          <p:cNvPr id="5" name="Image 0" descr="/mnt/data/pptx_unzip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032" y="1283709"/>
            <a:ext cx="6885728" cy="31328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60920" y="1143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103 countries classified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60920" y="1691640"/>
            <a:ext cx="384048" cy="256032"/>
          </a:xfrm>
          <a:prstGeom prst="roundRect">
            <a:avLst>
              <a:gd name="adj" fmla="val 25000"/>
            </a:avLst>
          </a:prstGeom>
          <a:solidFill>
            <a:srgbClr val="E64B35"/>
          </a:solidFill>
          <a:ln w="12700">
            <a:solidFill>
              <a:srgbClr val="E64B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7360920" y="172821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863840" y="170992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</a:rPr>
              <a:t>Finite circulation since introduction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0927080" y="17099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00000"/>
                </a:solidFill>
              </a:rPr>
              <a:t>39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360920" y="2221992"/>
            <a:ext cx="384048" cy="256032"/>
          </a:xfrm>
          <a:prstGeom prst="roundRect">
            <a:avLst>
              <a:gd name="adj" fmla="val 25000"/>
            </a:avLst>
          </a:prstGeom>
          <a:solidFill>
            <a:srgbClr val="00A087"/>
          </a:solidFill>
          <a:ln w="12700">
            <a:solidFill>
              <a:srgbClr val="00A08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7360920" y="225856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B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863840" y="2240280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</a:rPr>
              <a:t>Long-term endemic equilibrium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0927080" y="22402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00000"/>
                </a:solidFill>
              </a:rPr>
              <a:t>12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60920" y="2752344"/>
            <a:ext cx="384048" cy="256032"/>
          </a:xfrm>
          <a:prstGeom prst="roundRect">
            <a:avLst>
              <a:gd name="adj" fmla="val 25000"/>
            </a:avLst>
          </a:prstGeom>
          <a:solidFill>
            <a:srgbClr val="3C5488"/>
          </a:solidFill>
          <a:ln w="12700">
            <a:solidFill>
              <a:srgbClr val="3C54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7360920" y="278892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863840" y="2770632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</a:rPr>
              <a:t>Episodic transmission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0927080" y="27706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00000"/>
                </a:solidFill>
              </a:rPr>
              <a:t>42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360920" y="3282696"/>
            <a:ext cx="384048" cy="256032"/>
          </a:xfrm>
          <a:prstGeom prst="roundRect">
            <a:avLst>
              <a:gd name="adj" fmla="val 25000"/>
            </a:avLst>
          </a:prstGeom>
          <a:solidFill>
            <a:srgbClr val="7A5195"/>
          </a:solidFill>
          <a:ln w="12700">
            <a:solidFill>
              <a:srgbClr val="7A51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7360920" y="331927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7863840" y="330098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</a:rPr>
              <a:t>Conditional epidemic potential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0927080" y="330098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00000"/>
                </a:solidFill>
              </a:rPr>
              <a:t>10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315200" y="4297680"/>
            <a:ext cx="4114800" cy="914400"/>
          </a:xfrm>
          <a:prstGeom prst="rect">
            <a:avLst/>
          </a:prstGeom>
          <a:solidFill>
            <a:srgbClr val="F7F8FA"/>
          </a:solidFill>
          <a:ln w="762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7479792" y="4416552"/>
            <a:ext cx="378561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D002A"/>
                </a:solidFill>
              </a:rPr>
              <a:t>D estimates burden conditional on local epidemic transmission occurring (currently they have limited evidence of established local transmission)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infection model: separate past exposure from current risk</a:t>
            </a:r>
            <a:endParaRPr lang="en-US" sz="2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841" y="1444752"/>
            <a:ext cx="3755730" cy="667909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5081" y="1509433"/>
            <a:ext cx="3166946" cy="60322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806440" y="1645920"/>
            <a:ext cx="0" cy="297180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4"/>
          <p:cNvSpPr/>
          <p:nvPr/>
        </p:nvSpPr>
        <p:spPr>
          <a:xfrm>
            <a:off x="1051560" y="2560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</a:rPr>
              <a:t>Historical immunity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051560" y="2907792"/>
            <a:ext cx="43891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is an effective historical exposure duration.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determines how much prior outbreaks have depleted susceptible population 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differs by archetype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400800" y="2560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</a:rPr>
              <a:t>Current burden year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400800" y="2907792"/>
            <a:ext cx="46634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is the infection probability during the burden period.</a:t>
            </a:r>
            <a:endParaRPr lang="en-US" sz="1200" dirty="0"/>
          </a:p>
          <a:p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continuous annual risk, q = 1 − exp(−λ).</a:t>
            </a:r>
            <a:endParaRPr lang="en-US" sz="1200" dirty="0"/>
          </a:p>
          <a:p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episodic settings, q is annualised or conditional on an outbreak.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Finite circulation since introduction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77240" y="1051560"/>
            <a:ext cx="384048" cy="256032"/>
          </a:xfrm>
          <a:prstGeom prst="roundRect">
            <a:avLst>
              <a:gd name="adj" fmla="val 25000"/>
            </a:avLst>
          </a:prstGeom>
          <a:solidFill>
            <a:srgbClr val="E64B35"/>
          </a:solidFill>
          <a:ln w="12700">
            <a:solidFill>
              <a:srgbClr val="E64B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77240" y="108813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298448" y="106070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Transmission history is capped by time since introduction.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840" y="1645920"/>
            <a:ext cx="2926080" cy="59436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34840" y="1618488"/>
            <a:ext cx="4114800" cy="640080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5840" y="2514600"/>
            <a:ext cx="5305750" cy="5461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3657600"/>
            <a:ext cx="521208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T_c is years since sustained transmission began in country c.</a:t>
            </a:r>
            <a:endParaRPr lang="en-US" sz="12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Individuals younger than T_c accumulate exposure according to age.</a:t>
            </a:r>
            <a:endParaRPr lang="en-US" sz="12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Individuals older than T_c are capped at T_c years of exposure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from assigning a lifetime of exposure to older adults as in endemic setting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Long-term endemic equilibrium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77240" y="1051560"/>
            <a:ext cx="384048" cy="256032"/>
          </a:xfrm>
          <a:prstGeom prst="roundRect">
            <a:avLst>
              <a:gd name="adj" fmla="val 25000"/>
            </a:avLst>
          </a:prstGeom>
          <a:solidFill>
            <a:srgbClr val="00A087"/>
          </a:solidFill>
          <a:ln w="12700">
            <a:solidFill>
              <a:srgbClr val="00A08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77240" y="108813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B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298448" y="1060704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This retains the simple catalytic assumption of continuous exposure from birth.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840" y="1828800"/>
            <a:ext cx="1636999" cy="54864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40480" y="1783080"/>
            <a:ext cx="3207434" cy="548640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5840" y="2743200"/>
            <a:ext cx="6766560" cy="6400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1560" y="3840480"/>
            <a:ext cx="548640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exposure grows linearly with age.</a:t>
            </a:r>
            <a:endParaRPr lang="en-US" sz="12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Older cohorts have progressively lower susceptibility.</a:t>
            </a:r>
            <a:endParaRPr lang="en-US" sz="12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Appropriate for countries where transmission is long established and repeatedly observed over time.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Episodic transmission with inter-epidemic periods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77240" y="1051560"/>
            <a:ext cx="384048" cy="256032"/>
          </a:xfrm>
          <a:prstGeom prst="roundRect">
            <a:avLst>
              <a:gd name="adj" fmla="val 25000"/>
            </a:avLst>
          </a:prstGeom>
          <a:solidFill>
            <a:srgbClr val="3C5488"/>
          </a:solidFill>
          <a:ln w="12700">
            <a:solidFill>
              <a:srgbClr val="3C54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77240" y="108813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298448" y="106070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Historical exposure accumulates through discrete epidemic opportunities, not continuously every year.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645920"/>
            <a:ext cx="2286000" cy="45720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83280" y="1600199"/>
            <a:ext cx="2194112" cy="516091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29400" y="1645920"/>
            <a:ext cx="1979342" cy="46556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1" y="2606040"/>
            <a:ext cx="5087186" cy="516091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29400" y="2633472"/>
            <a:ext cx="4010950" cy="63093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22960" y="3840480"/>
            <a:ext cx="640080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τ_c is the inter-epidemic interval; in PSA, τ_c is sampled across 7–20 years.</a:t>
            </a:r>
            <a:endParaRPr lang="en-US" sz="12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counts how many outbreak opportunities an age cohort has experienced.</a:t>
            </a:r>
            <a:endParaRPr lang="en-US" sz="12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h_out converts a long-term annual FOI into one outbreak-level cumulative hazard.</a:t>
            </a:r>
            <a:endParaRPr lang="en-US" sz="12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annualised burden averages a larger outbreak-year risk over epidemic and non-epidemic years.</a:t>
            </a:r>
            <a:endParaRPr lang="en-US" sz="1250" dirty="0"/>
          </a:p>
        </p:txBody>
      </p:sp>
      <p:sp>
        <p:nvSpPr>
          <p:cNvPr id="15" name="Shape 8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Conditional epidemic potential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77240" y="1051560"/>
            <a:ext cx="384048" cy="256032"/>
          </a:xfrm>
          <a:prstGeom prst="roundRect">
            <a:avLst>
              <a:gd name="adj" fmla="val 25000"/>
            </a:avLst>
          </a:prstGeom>
          <a:solidFill>
            <a:srgbClr val="7A5195"/>
          </a:solidFill>
          <a:ln w="12700">
            <a:solidFill>
              <a:srgbClr val="7A51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77240" y="108813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298448" y="1060704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D estimates burden conditional on epidemic transmission occurring; it is not an unconditional annual burden.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691640"/>
            <a:ext cx="3962401" cy="468284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2606040"/>
            <a:ext cx="4638907" cy="4775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15200" y="1600200"/>
            <a:ext cx="402336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 assumes no prior sustained local transmission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susceptibility is 1 for all ages.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prior local transmission is later documented, E(D) can be replaced by known historical exposure.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P(outbreak) is not estimated here, D must be labelled as conditional epidemic potential.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11185855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INFECTION RESULTS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Archetype-specific infection incidence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A–C are annualised estimates; D is conditional on epidemic transmission.</a:t>
            </a:r>
            <a:endParaRPr lang="en-US" sz="1050" dirty="0"/>
          </a:p>
        </p:txBody>
      </p:sp>
      <p:pic>
        <p:nvPicPr>
          <p:cNvPr id="5" name="Image 0" descr="/mnt/data/pptx_unzip/ppt/media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41679"/>
            <a:ext cx="5669280" cy="40660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75120" y="1417320"/>
            <a:ext cx="448056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declines most strongly with age because exposure accumulates continuously from birth.</a:t>
            </a:r>
            <a:endParaRPr lang="en-US" sz="12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has flatter older-age incidence because exposure is capped by introduction history.</a:t>
            </a:r>
            <a:endParaRPr lang="en-US" sz="12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depends on inter-epidemic timing and event hazard concentration.</a:t>
            </a:r>
            <a:endParaRPr lang="en-US" sz="12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should be interpreted as potential burden if transmission occurs, not expected annual incidence.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and cannot be compared across archetypes?</a:t>
            </a:r>
            <a:endParaRPr lang="en-US" sz="2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00200"/>
          <a:ext cx="10835640" cy="237744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12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Estimand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Interpretation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Expected annual burden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Finite transmission history since introduction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Expected annual burden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Long-term continuous exposure from birth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Annualised episodic burden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Outbreak-year risk averaged over inter-epidemic intervals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Conditional epidemic potential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Burden given that local transmission occurs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0000"/>
                </a:solidFill>
              </a:rPr>
              <a:t>Comorbidity-stratified burden model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Estimating hospitalisation risk by age and comorbidity</a:t>
            </a:r>
            <a:endParaRPr lang="en-US" sz="2500" dirty="0"/>
          </a:p>
        </p:txBody>
      </p:sp>
      <p:pic>
        <p:nvPicPr>
          <p:cNvPr id="4" name="Image 0" descr="/mnt/data/pptx_unzip/ppt/media/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307" y="1051560"/>
            <a:ext cx="5594266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20840" y="1417320"/>
            <a:ext cx="452628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confirmed chikungunya surveillance records from Brazil, 2017–2024.</a:t>
            </a:r>
            <a:endParaRPr lang="en-US" sz="12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hospitalisation among confirmed cases.</a:t>
            </a:r>
            <a:endParaRPr lang="en-US" sz="12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Predictors: age, sex, and comorbidity-count group.</a:t>
            </a:r>
            <a:endParaRPr lang="en-US" sz="12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 flexible age-specific risk with no-comorbidity as the reference group.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Standardised hospitalisation relative risks</a:t>
            </a:r>
            <a:endParaRPr lang="en-US" sz="2500" dirty="0"/>
          </a:p>
        </p:txBody>
      </p:sp>
      <p:pic>
        <p:nvPicPr>
          <p:cNvPr id="4" name="Image 0" descr="/mnt/data/pptx_unzip/ppt/media/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04" y="1143000"/>
            <a:ext cx="5265192" cy="43891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86601" y="1508760"/>
            <a:ext cx="1745166" cy="6858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03720" y="2514600"/>
            <a:ext cx="42062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hospitalisation risk is averaged across female and male patients within each age–comorbidity stratum.</a:t>
            </a:r>
            <a:endParaRPr lang="en-US" sz="122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risks compare each comorbidity group to the no-comorbidity reference</a:t>
            </a:r>
            <a:endParaRPr lang="en-US" sz="1220" dirty="0"/>
          </a:p>
        </p:txBody>
      </p:sp>
      <p:sp>
        <p:nvSpPr>
          <p:cNvPr id="7" name="Shape 3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11185855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BRAZIL SURVEILLANCE MODEL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Fatality risk and death relative risks</a:t>
            </a:r>
            <a:endParaRPr lang="en-US" sz="2500" dirty="0"/>
          </a:p>
        </p:txBody>
      </p:sp>
      <p:pic>
        <p:nvPicPr>
          <p:cNvPr id="4" name="Image 0" descr="/mnt/data/pptx_unzip/ppt/media/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954" y="1051560"/>
            <a:ext cx="3706053" cy="4480560"/>
          </a:xfrm>
          <a:prstGeom prst="rect">
            <a:avLst/>
          </a:prstGeom>
        </p:spPr>
      </p:pic>
      <p:pic>
        <p:nvPicPr>
          <p:cNvPr id="5" name="Image 1" descr="/mnt/data/pptx_unzip/ppt/media/image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298" y="1234440"/>
            <a:ext cx="3327884" cy="40233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14400" y="5806440"/>
            <a:ext cx="10058400" cy="411480"/>
          </a:xfrm>
          <a:prstGeom prst="rect">
            <a:avLst/>
          </a:prstGeom>
          <a:solidFill>
            <a:srgbClr val="F7F8FA"/>
          </a:solidFill>
          <a:ln w="762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3"/>
          <p:cNvSpPr/>
          <p:nvPr/>
        </p:nvSpPr>
        <p:spPr>
          <a:xfrm>
            <a:off x="1078992" y="5925312"/>
            <a:ext cx="9729216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D002A"/>
                </a:solidFill>
              </a:rPr>
              <a:t>Death models are more uncertain because deaths are sparse; interpret comorbidity gradients cautiously and preserve uncertainty intervals.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prevalence of underlying conditions by age</a:t>
            </a:r>
            <a:endParaRPr lang="en-US" sz="2500" dirty="0"/>
          </a:p>
        </p:txBody>
      </p:sp>
      <p:pic>
        <p:nvPicPr>
          <p:cNvPr id="4" name="Image 0" descr="/mnt/data/pptx_unzip/ppt/media/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70902"/>
            <a:ext cx="6400800" cy="45161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60920" y="1417320"/>
            <a:ext cx="393192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GBD prevalence of underlying conditions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underlying conditions were aligned with variables observed in SINAN Brazil surveillance.</a:t>
            </a:r>
            <a:endParaRPr lang="en-US" sz="123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Prevalence is available by country and 5-year age group.</a:t>
            </a:r>
            <a:endParaRPr lang="en-US" sz="1230" dirty="0"/>
          </a:p>
        </p:txBody>
      </p:sp>
      <p:sp>
        <p:nvSpPr>
          <p:cNvPr id="8" name="Shape 5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disease prevalence to individual disease status</a:t>
            </a:r>
            <a:endParaRPr lang="en-US" sz="2500" dirty="0"/>
          </a:p>
        </p:txBody>
      </p:sp>
      <p:pic>
        <p:nvPicPr>
          <p:cNvPr id="4" name="Image 0" descr="/mnt/data/pptx_unzip/ppt/media/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291735"/>
            <a:ext cx="4572000" cy="27200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07899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For each country × age group, create 10,000 synthetic individuals.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1600200"/>
            <a:ext cx="530352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synthetic individual receives one standardised score for each of the seven conditions (randomly generated scores following normal distribution of N(0,1))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Thresholds for binary classification is defined based on observed prevalence of condition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Jointly combining 7x7 correlation matrix (</a:t>
            </a:r>
            <a:r>
              <a:rPr lang="en-US" sz="1200" dirty="0" err="1"/>
              <a:t>corr</a:t>
            </a:r>
            <a:r>
              <a:rPr lang="en-US" sz="1200" dirty="0"/>
              <a:t> score between 7 conditions) to updated scores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Prevalence determines the condition-specific cut-off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10% prevalence corresponds to a cut-off of 1.28 because 90% of the bell curve lies below 1.28.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977640"/>
          <a:ext cx="5166360" cy="10058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</a:rPr>
                        <a:t>Condition</a:t>
                      </a:r>
                      <a:endParaRPr lang="en-US" sz="860" dirty="0"/>
                    </a:p>
                  </a:txBody>
                  <a:tcPr marL="45720" marR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</a:rPr>
                        <a:t>Prevalence</a:t>
                      </a:r>
                      <a:endParaRPr lang="en-US" sz="860" dirty="0"/>
                    </a:p>
                  </a:txBody>
                  <a:tcPr marL="45720" marR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</a:rPr>
                        <a:t>Cut-off</a:t>
                      </a:r>
                      <a:endParaRPr lang="en-US" sz="860" dirty="0"/>
                    </a:p>
                  </a:txBody>
                  <a:tcPr marL="45720" marR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</a:rPr>
                        <a:t>Positive group</a:t>
                      </a:r>
                      <a:endParaRPr lang="en-US" sz="860" dirty="0"/>
                    </a:p>
                  </a:txBody>
                  <a:tcPr marL="45720" marR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</a:rPr>
                        <a:t>Diabetes</a:t>
                      </a:r>
                      <a:endParaRPr lang="en-US" sz="860" dirty="0"/>
                    </a:p>
                  </a:txBody>
                  <a:tcPr marL="45720" marR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</a:rPr>
                        <a:t>10%</a:t>
                      </a:r>
                      <a:endParaRPr lang="en-US" sz="860" dirty="0"/>
                    </a:p>
                  </a:txBody>
                  <a:tcPr marL="45720" marR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</a:rPr>
                        <a:t>1.28</a:t>
                      </a:r>
                      <a:endParaRPr lang="en-US" sz="860" dirty="0"/>
                    </a:p>
                  </a:txBody>
                  <a:tcPr marL="45720" marR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</a:rPr>
                        <a:t>Highest 10%</a:t>
                      </a:r>
                      <a:endParaRPr lang="en-US" sz="860" dirty="0"/>
                    </a:p>
                  </a:txBody>
                  <a:tcPr marL="45720" marR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</a:rPr>
                        <a:t>Hypertension</a:t>
                      </a:r>
                      <a:endParaRPr lang="en-US" sz="860" dirty="0"/>
                    </a:p>
                  </a:txBody>
                  <a:tcPr marL="45720" marR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</a:rPr>
                        <a:t>30%</a:t>
                      </a:r>
                      <a:endParaRPr lang="en-US" sz="860" dirty="0"/>
                    </a:p>
                  </a:txBody>
                  <a:tcPr marL="45720" marR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</a:rPr>
                        <a:t>0.52</a:t>
                      </a:r>
                      <a:endParaRPr lang="en-US" sz="860" dirty="0"/>
                    </a:p>
                  </a:txBody>
                  <a:tcPr marL="45720" marR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</a:rPr>
                        <a:t>Highest 30%</a:t>
                      </a:r>
                      <a:endParaRPr lang="en-US" sz="860" dirty="0"/>
                    </a:p>
                  </a:txBody>
                  <a:tcPr marL="45720" marR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</a:rPr>
                        <a:t>Renal disease</a:t>
                      </a:r>
                      <a:endParaRPr lang="en-US" sz="860" dirty="0"/>
                    </a:p>
                  </a:txBody>
                  <a:tcPr marL="45720" marR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</a:rPr>
                        <a:t>5%</a:t>
                      </a:r>
                      <a:endParaRPr lang="en-US" sz="860" dirty="0"/>
                    </a:p>
                  </a:txBody>
                  <a:tcPr marL="45720" marR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</a:rPr>
                        <a:t>1.64</a:t>
                      </a:r>
                      <a:endParaRPr lang="en-US" sz="860" dirty="0"/>
                    </a:p>
                  </a:txBody>
                  <a:tcPr marL="45720" marR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</a:rPr>
                        <a:t>Highest 5%</a:t>
                      </a:r>
                      <a:endParaRPr lang="en-US" sz="860" dirty="0"/>
                    </a:p>
                  </a:txBody>
                  <a:tcPr marL="45720" marR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 correlations determine who receives overlapping conditions</a:t>
            </a:r>
            <a:endParaRPr lang="en-US" sz="2500" dirty="0"/>
          </a:p>
        </p:txBody>
      </p:sp>
      <p:pic>
        <p:nvPicPr>
          <p:cNvPr id="4" name="Image 0" descr="/mnt/data/pptx_unzip/ppt/media/image1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019" y="1234439"/>
            <a:ext cx="6662853" cy="33314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0" y="2148840"/>
            <a:ext cx="397764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seven condition scores are first generated as standardised random scores.</a:t>
            </a:r>
            <a:endParaRPr lang="en-US" sz="117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age-specific correlation matrix then links the scores so related conditions tend to be high in the same synthetic individuals.</a:t>
            </a:r>
            <a:endParaRPr lang="en-US" sz="117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Cut-offs are not changed by the correlation step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disease-specific thresholds are applied after the scores are linked.</a:t>
            </a:r>
            <a:endParaRPr lang="en-US" sz="1170" dirty="0"/>
          </a:p>
        </p:txBody>
      </p:sp>
      <p:sp>
        <p:nvSpPr>
          <p:cNvPr id="9" name="Shape 6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Counting conditions within the synthetic population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77240" y="102412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After applying condition-specific cut-offs, each synthetic individual has seven binary disease indicators.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54480"/>
          <a:ext cx="6126480" cy="187452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24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Individual</a:t>
                      </a:r>
                      <a:endParaRPr lang="en-US" sz="92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Diabetes</a:t>
                      </a:r>
                      <a:endParaRPr lang="en-US" sz="92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Hypertension</a:t>
                      </a:r>
                      <a:endParaRPr lang="en-US" sz="92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Renal</a:t>
                      </a:r>
                      <a:endParaRPr lang="en-US" sz="92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Liver</a:t>
                      </a:r>
                      <a:endParaRPr lang="en-US" sz="92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Other</a:t>
                      </a:r>
                      <a:endParaRPr lang="en-US" sz="92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92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Person 1</a:t>
                      </a:r>
                      <a:endParaRPr lang="en-US" sz="92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Person 2</a:t>
                      </a:r>
                      <a:endParaRPr lang="en-US" sz="92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2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2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Person 3</a:t>
                      </a:r>
                      <a:endParaRPr lang="en-US" sz="92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2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2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2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Person 4</a:t>
                      </a:r>
                      <a:endParaRPr lang="en-US" sz="92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2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2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2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2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Person 5</a:t>
                      </a:r>
                      <a:endParaRPr lang="en-US" sz="92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2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2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89520" y="1691640"/>
            <a:ext cx="1186490" cy="54864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4572000"/>
            <a:ext cx="10149840" cy="566928"/>
          </a:xfrm>
          <a:prstGeom prst="rect">
            <a:avLst/>
          </a:prstGeom>
          <a:solidFill>
            <a:srgbClr val="F7F8FA"/>
          </a:solidFill>
          <a:ln w="762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4"/>
          <p:cNvSpPr/>
          <p:nvPr/>
        </p:nvSpPr>
        <p:spPr>
          <a:xfrm>
            <a:off x="1078992" y="4690872"/>
            <a:ext cx="982065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</a:rPr>
              <a:t>The final output for each country × age group is mutually exclusive: P(0) + P(1) + P(2+) = 1.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Hospitalisation burden by age and comorbidity status</a:t>
            </a:r>
            <a:endParaRPr lang="en-US" sz="2500" dirty="0"/>
          </a:p>
        </p:txBody>
      </p:sp>
      <p:pic>
        <p:nvPicPr>
          <p:cNvPr id="4" name="Image 0" descr="/mnt/data/pptx_unzip/ppt/media/image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519" y="1078992"/>
            <a:ext cx="5396722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03720" y="1417320"/>
            <a:ext cx="43434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 age groups can contribute substantial hospitalisation burden even with lower comorbidity prevalence because infection incidence is high.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C0B5A-6100-E434-2E6E-8B55DB842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DC946CD-C6D4-1503-58A8-E43F7A27C6AC}"/>
              </a:ext>
            </a:extLst>
          </p:cNvPr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Mortality burden by age and comorbidity status</a:t>
            </a:r>
            <a:endParaRPr lang="en-US" sz="25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8F70C0D-E583-8EF6-D9D5-F62D6E06E51D}"/>
              </a:ext>
            </a:extLst>
          </p:cNvPr>
          <p:cNvSpPr/>
          <p:nvPr/>
        </p:nvSpPr>
        <p:spPr>
          <a:xfrm>
            <a:off x="6903720" y="1417320"/>
            <a:ext cx="43434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 and older age groups can contribute substantial mortality burden.</a:t>
            </a:r>
            <a:endParaRPr lang="en-US" sz="12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0E4FB436-D841-D655-9C64-EE49269ACF6E}"/>
              </a:ext>
            </a:extLst>
          </p:cNvPr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2BC14EF-A94B-F03B-1BDF-B876E788A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28" y="935309"/>
            <a:ext cx="568778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3291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Hospitalisation burden differs by transmission archetype and comorbidity group</a:t>
            </a:r>
            <a:endParaRPr lang="en-US" sz="2500" dirty="0"/>
          </a:p>
        </p:txBody>
      </p:sp>
      <p:pic>
        <p:nvPicPr>
          <p:cNvPr id="4" name="Image 0" descr="/mnt/data/pptx_unzip/ppt/media/image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682" y="1051560"/>
            <a:ext cx="5989035" cy="4709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0" y="1325880"/>
            <a:ext cx="3886200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endemic equilibrium tends to have the lowest and most stable hospitalisation burden.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epidemic potential has the highest burden because susceptibility is high and risk is conditional on transmission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Comorbidity gradients persist across all archetypes.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1205</Words>
  <Application>Microsoft Office PowerPoint</Application>
  <PresentationFormat>와이드스크린</PresentationFormat>
  <Paragraphs>212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4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Transmission archetype classification</dc:title>
  <dc:subject>Transmission archetype and comorbidity burden modelling</dc:subject>
  <dc:creator>OpenAI</dc:creator>
  <cp:lastModifiedBy>효림 강</cp:lastModifiedBy>
  <cp:revision>2</cp:revision>
  <dcterms:created xsi:type="dcterms:W3CDTF">2026-07-24T08:06:28Z</dcterms:created>
  <dcterms:modified xsi:type="dcterms:W3CDTF">2026-07-24T08:40:03Z</dcterms:modified>
</cp:coreProperties>
</file>